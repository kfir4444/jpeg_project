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2" r:id="rId5"/>
    <p:sldId id="261" r:id="rId6"/>
    <p:sldId id="263" r:id="rId7"/>
    <p:sldId id="259" r:id="rId8"/>
    <p:sldId id="258" r:id="rId9"/>
    <p:sldId id="265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46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CCE8C-C0B5-4985-8D01-A71A6A5E56B0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A6968-9947-4B2D-879E-93931C5C0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97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CCE8C-C0B5-4985-8D01-A71A6A5E56B0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A6968-9947-4B2D-879E-93931C5C0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903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CCE8C-C0B5-4985-8D01-A71A6A5E56B0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A6968-9947-4B2D-879E-93931C5C0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05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CCE8C-C0B5-4985-8D01-A71A6A5E56B0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A6968-9947-4B2D-879E-93931C5C0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80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CCE8C-C0B5-4985-8D01-A71A6A5E56B0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A6968-9947-4B2D-879E-93931C5C0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826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CCE8C-C0B5-4985-8D01-A71A6A5E56B0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A6968-9947-4B2D-879E-93931C5C0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77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CCE8C-C0B5-4985-8D01-A71A6A5E56B0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A6968-9947-4B2D-879E-93931C5C0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72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CCE8C-C0B5-4985-8D01-A71A6A5E56B0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A6968-9947-4B2D-879E-93931C5C0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9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CCE8C-C0B5-4985-8D01-A71A6A5E56B0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A6968-9947-4B2D-879E-93931C5C0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192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CCE8C-C0B5-4985-8D01-A71A6A5E56B0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A6968-9947-4B2D-879E-93931C5C0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485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CCE8C-C0B5-4985-8D01-A71A6A5E56B0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A6968-9947-4B2D-879E-93931C5C0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86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CCE8C-C0B5-4985-8D01-A71A6A5E56B0}" type="datetimeFigureOut">
              <a:rPr lang="en-US" smtClean="0"/>
              <a:t>9/2/2021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A6968-9947-4B2D-879E-93931C5C0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229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How hot can a JPEG get?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Guide:</a:t>
            </a:r>
          </a:p>
          <a:p>
            <a:r>
              <a:rPr lang="en-US" dirty="0"/>
              <a:t> </a:t>
            </a:r>
            <a:r>
              <a:rPr lang="en-US" dirty="0" smtClean="0"/>
              <a:t>Philippe Charron</a:t>
            </a:r>
          </a:p>
          <a:p>
            <a:r>
              <a:rPr lang="en-US" dirty="0" smtClean="0"/>
              <a:t>Participants:</a:t>
            </a:r>
          </a:p>
          <a:p>
            <a:r>
              <a:rPr lang="en-US" dirty="0" err="1" smtClean="0"/>
              <a:t>Maor</a:t>
            </a:r>
            <a:r>
              <a:rPr lang="en-US" dirty="0" smtClean="0"/>
              <a:t> Ben </a:t>
            </a:r>
            <a:r>
              <a:rPr lang="en-US" dirty="0" err="1" smtClean="0"/>
              <a:t>Zaquen</a:t>
            </a:r>
            <a:r>
              <a:rPr lang="en-US" dirty="0" smtClean="0"/>
              <a:t>, Kfir Kaplan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776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JPEG algorithm (JPEG 1)-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1) Divide the pictures into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bits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bits</m:t>
                    </m:r>
                  </m:oMath>
                </a14:m>
                <a:r>
                  <a:rPr lang="en-US" dirty="0" smtClean="0"/>
                  <a:t> sections</a:t>
                </a:r>
              </a:p>
              <a:p>
                <a:pPr marL="0" indent="0">
                  <a:buNone/>
                </a:pPr>
                <a:r>
                  <a:rPr lang="en-US" dirty="0" smtClean="0"/>
                  <a:t>2) Transpose each bit to a different base </a:t>
                </a:r>
                <a:r>
                  <a:rPr lang="en-US" dirty="0" smtClean="0"/>
                  <a:t>(*) removing unnecessary </a:t>
                </a:r>
                <a:r>
                  <a:rPr lang="en-US" dirty="0" smtClean="0"/>
                  <a:t>data</a:t>
                </a:r>
                <a:r>
                  <a:rPr lang="en-US" dirty="0" smtClean="0"/>
                  <a:t>. (?)</a:t>
                </a:r>
              </a:p>
              <a:p>
                <a:pPr marL="0" indent="0">
                  <a:buNone/>
                </a:pPr>
                <a:r>
                  <a:rPr lang="en-US" dirty="0" smtClean="0"/>
                  <a:t>3) Remove less important data, using another standard matrix which removes unwanted data</a:t>
                </a: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>4</a:t>
                </a:r>
                <a:r>
                  <a:rPr lang="en-US" dirty="0" smtClean="0"/>
                  <a:t>) </a:t>
                </a:r>
                <a:r>
                  <a:rPr lang="en-US" dirty="0" smtClean="0"/>
                  <a:t>Transpose back to the standard </a:t>
                </a:r>
                <a:r>
                  <a:rPr lang="en-US" dirty="0" smtClean="0"/>
                  <a:t>bases</a:t>
                </a:r>
                <a:r>
                  <a:rPr lang="en-US" dirty="0"/>
                  <a:t>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7229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*Change of Basis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 smtClean="0"/>
                  <a:t>Using the Discrete Cosine Transform (DCT), and the fact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m:rPr>
                            <m:sty m:val="p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⁡(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𝑐𝑜𝑥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)}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</m:sSubSup>
                  </m:oMath>
                </a14:m>
                <a:r>
                  <a:rPr lang="en-US" dirty="0" smtClean="0"/>
                  <a:t> is an orthonormal base for the 2d plane.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This clever base change, allows us to ignore the high frequency cosine waves, this allows us to reduce their impact on the final picture.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Much like sounds compression, where higher frequencies that people can’t hear is  ignored. (only worse)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0622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Lossless and </a:t>
            </a:r>
            <a:r>
              <a:rPr lang="en-US" dirty="0" err="1" smtClean="0"/>
              <a:t>Lossy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Lossless compression is one where no data is lose</a:t>
            </a:r>
          </a:p>
          <a:p>
            <a:endParaRPr lang="en-US" dirty="0"/>
          </a:p>
          <a:p>
            <a:r>
              <a:rPr lang="en-US" dirty="0" err="1" smtClean="0"/>
              <a:t>Lossy</a:t>
            </a:r>
            <a:r>
              <a:rPr lang="en-US" dirty="0" smtClean="0"/>
              <a:t> compression is one where data is lost</a:t>
            </a:r>
          </a:p>
          <a:p>
            <a:endParaRPr lang="en-US" dirty="0"/>
          </a:p>
          <a:p>
            <a:r>
              <a:rPr lang="en-US" dirty="0" smtClean="0"/>
              <a:t>JPEG has to be a </a:t>
            </a:r>
            <a:r>
              <a:rPr lang="en-US" dirty="0" err="1" smtClean="0"/>
              <a:t>lossy</a:t>
            </a:r>
            <a:r>
              <a:rPr lang="en-US" dirty="0" smtClean="0"/>
              <a:t>, since to be efficient, data has to be ignored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427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Problems with JPEG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80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712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JPEG </a:t>
            </a:r>
            <a:r>
              <a:rPr lang="en-US" dirty="0" smtClean="0"/>
              <a:t>2- using the original pictures coefficients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 smtClean="0"/>
                  <a:t>The original JPEG does the following: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i="0" dirty="0" err="1" smtClean="0">
                          <a:latin typeface="Cambria Math" panose="02040503050406030204" pitchFamily="18" charset="0"/>
                        </a:rPr>
                        <m:t>dct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picture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 = [(</m:t>
                      </m:r>
                      <m:f>
                        <m:fPr>
                          <m:ctrlPr>
                            <a:rPr lang="en-US" b="0" i="0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 +</m:t>
                      </m:r>
                      <m:f>
                        <m:fPr>
                          <m:ctrlPr>
                            <a:rPr lang="en-US" i="0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0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0" dirty="0" smtClean="0">
                          <a:latin typeface="Cambria Math" panose="02040503050406030204" pitchFamily="18" charset="0"/>
                        </a:rPr>
                        <m:t>)]∗</m:t>
                      </m:r>
                      <m:r>
                        <m:rPr>
                          <m:sty m:val="p"/>
                        </m:rPr>
                        <a:rPr lang="en-US" i="0" dirty="0" smtClean="0">
                          <a:latin typeface="Cambria Math" panose="02040503050406030204" pitchFamily="18" charset="0"/>
                        </a:rPr>
                        <m:t>q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Where [x] = the integer part of x</a:t>
                </a:r>
              </a:p>
              <a:p>
                <a:pPr marL="0" indent="0">
                  <a:buNone/>
                </a:pPr>
                <a:r>
                  <a:rPr lang="en-US" dirty="0" smtClean="0"/>
                  <a:t>Instead, we tried a different algorithm: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dirty="0" err="1">
                          <a:latin typeface="Cambria Math" panose="02040503050406030204" pitchFamily="18" charset="0"/>
                        </a:rPr>
                        <m:t>dct</m:t>
                      </m:r>
                      <m:d>
                        <m:dPr>
                          <m:ctrlPr>
                            <a:rPr lang="en-US" i="1" dirty="0" err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picture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=[(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dirty="0">
                          <a:latin typeface="Cambria Math" panose="02040503050406030204" pitchFamily="18" charset="0"/>
                        </a:rPr>
                        <m:t> +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dirty="0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0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sub>
                      </m:sSub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dirty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b="0" i="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dirty="0" smtClean="0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dirty="0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b="0" i="0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dirty="0" smtClean="0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en-US" b="0" i="0" dirty="0" smtClean="0">
                                  <a:latin typeface="Cambria Math" panose="02040503050406030204" pitchFamily="18" charset="0"/>
                                </a:rPr>
                                <m:t>is</m:t>
                              </m:r>
                              <m:r>
                                <a:rPr lang="en-US" b="0" i="0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0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l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dirty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9874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JPEG </a:t>
            </a:r>
            <a:r>
              <a:rPr lang="en-US" dirty="0" smtClean="0"/>
              <a:t>3- change a the “ignoring” matrix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arenR"/>
            </a:pPr>
            <a:r>
              <a:rPr lang="en-US" dirty="0" smtClean="0"/>
              <a:t>The original matrix used for ignoring the high frequency data was arbitrarily chosen to be:</a:t>
            </a:r>
          </a:p>
          <a:p>
            <a:pPr marL="514350" indent="-514350">
              <a:buAutoNum type="arabicParenR"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50550"/>
              </p:ext>
            </p:extLst>
          </p:nvPr>
        </p:nvGraphicFramePr>
        <p:xfrm>
          <a:off x="4249500" y="2697324"/>
          <a:ext cx="3693000" cy="30234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0851"/>
                <a:gridCol w="460851"/>
                <a:gridCol w="467043"/>
                <a:gridCol w="460851"/>
                <a:gridCol w="460851"/>
                <a:gridCol w="460851"/>
                <a:gridCol w="460851"/>
                <a:gridCol w="460851"/>
              </a:tblGrid>
              <a:tr h="377936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52</a:t>
                      </a:r>
                      <a:endParaRPr lang="en-US" dirty="0"/>
                    </a:p>
                  </a:txBody>
                  <a:tcPr/>
                </a:tc>
              </a:tr>
              <a:tr h="377936"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58</a:t>
                      </a:r>
                      <a:endParaRPr lang="en-US" dirty="0"/>
                    </a:p>
                  </a:txBody>
                  <a:tcPr/>
                </a:tc>
              </a:tr>
              <a:tr h="377936">
                <a:tc>
                  <a:txBody>
                    <a:bodyPr/>
                    <a:lstStyle/>
                    <a:p>
                      <a:r>
                        <a:rPr lang="en-US" dirty="0" smtClean="0"/>
                        <a:t>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64</a:t>
                      </a:r>
                      <a:endParaRPr lang="en-US" dirty="0"/>
                    </a:p>
                  </a:txBody>
                  <a:tcPr/>
                </a:tc>
              </a:tr>
              <a:tr h="377936">
                <a:tc>
                  <a:txBody>
                    <a:bodyPr/>
                    <a:lstStyle/>
                    <a:p>
                      <a:r>
                        <a:rPr lang="en-US" dirty="0" smtClean="0"/>
                        <a:t>28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</a:tr>
              <a:tr h="377936">
                <a:tc>
                  <a:txBody>
                    <a:bodyPr/>
                    <a:lstStyle/>
                    <a:p>
                      <a:r>
                        <a:rPr lang="en-US" dirty="0" smtClean="0"/>
                        <a:t>34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76</a:t>
                      </a:r>
                      <a:endParaRPr lang="en-US" dirty="0"/>
                    </a:p>
                  </a:txBody>
                  <a:tcPr/>
                </a:tc>
              </a:tr>
              <a:tr h="377936">
                <a:tc>
                  <a:txBody>
                    <a:bodyPr/>
                    <a:lstStyle/>
                    <a:p>
                      <a:r>
                        <a:rPr lang="en-US" dirty="0" smtClean="0"/>
                        <a:t>40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82</a:t>
                      </a:r>
                      <a:endParaRPr lang="en-US" dirty="0"/>
                    </a:p>
                  </a:txBody>
                  <a:tcPr/>
                </a:tc>
              </a:tr>
              <a:tr h="377936">
                <a:tc>
                  <a:txBody>
                    <a:bodyPr/>
                    <a:lstStyle/>
                    <a:p>
                      <a:r>
                        <a:rPr lang="en-US" dirty="0" smtClean="0"/>
                        <a:t>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88</a:t>
                      </a:r>
                      <a:endParaRPr lang="en-US" dirty="0"/>
                    </a:p>
                  </a:txBody>
                  <a:tcPr/>
                </a:tc>
              </a:tr>
              <a:tr h="377936">
                <a:tc>
                  <a:txBody>
                    <a:bodyPr/>
                    <a:lstStyle/>
                    <a:p>
                      <a:r>
                        <a:rPr lang="en-US" dirty="0" smtClean="0"/>
                        <a:t>52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94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38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JPEG </a:t>
            </a:r>
            <a:r>
              <a:rPr lang="en-US" dirty="0" smtClean="0"/>
              <a:t>3- </a:t>
            </a:r>
            <a:r>
              <a:rPr lang="en-US" dirty="0"/>
              <a:t>change a the “ignoring”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Drawing from the solutions to the heat equation, we chose the matrix to be: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𝑘𝑡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 . </m:t>
                    </m:r>
                  </m:oMath>
                </a14:m>
                <a:r>
                  <a:rPr lang="en-US" dirty="0" smtClean="0"/>
                  <a:t>The optimal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 smtClean="0"/>
                  <a:t> is yet to be found, but we saw that        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 smtClean="0"/>
                  <a:t>, a better resulting picture is granted than using Q for a given compression rate.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217" t="-2241" r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7302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JEPG4-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870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270</Words>
  <Application>Microsoft Office PowerPoint</Application>
  <PresentationFormat>Widescreen</PresentationFormat>
  <Paragraphs>103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How hot can a JPEG get?</vt:lpstr>
      <vt:lpstr>JPEG algorithm (JPEG 1)-</vt:lpstr>
      <vt:lpstr>*Change of Basis</vt:lpstr>
      <vt:lpstr>Lossless and Lossy</vt:lpstr>
      <vt:lpstr>The Problems with JPEG</vt:lpstr>
      <vt:lpstr>PowerPoint Presentation</vt:lpstr>
      <vt:lpstr>JPEG 2- using the original pictures coefficients</vt:lpstr>
      <vt:lpstr>JPEG 3- change a the “ignoring” matrix</vt:lpstr>
      <vt:lpstr>JPEG 3- change a the “ignoring” matrix</vt:lpstr>
      <vt:lpstr>JEPG4-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hot can a JPEG get?</dc:title>
  <dc:creator>Kfir Kaplan</dc:creator>
  <cp:lastModifiedBy>Kfir Kaplan</cp:lastModifiedBy>
  <cp:revision>10</cp:revision>
  <dcterms:created xsi:type="dcterms:W3CDTF">2021-09-02T09:20:58Z</dcterms:created>
  <dcterms:modified xsi:type="dcterms:W3CDTF">2021-09-02T11:07:04Z</dcterms:modified>
</cp:coreProperties>
</file>